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6FE109-A457-47C4-8DEC-EA62441D09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C69F5E-4463-4922-B7EC-F7B88F4CD9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CEF74E-657D-453B-9E19-5EF1A43703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4933A7-FF51-4226-9C73-06AEC1897C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F4A87E-191C-4B58-AB3D-04487EAB73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556C7A-3521-4AE7-B826-EB538A7F12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A7D04C-95B6-4567-8DE3-9D2D8084A2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BDBD99-F921-473A-944F-ADBDCB97F3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9D250B-6354-4409-9989-12BA9F40CF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BC50BB-6F2C-46FB-A809-B183BCC021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CB303A-9424-48A4-A7EF-DAEFC49E78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1371600" y="182880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ANTERIQ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371600" y="2560320"/>
            <a:ext cx="914364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/>
            <a:r>
              <a:rPr lang="en-US" sz="40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La transformation IA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de bout en bout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2286000" y="384048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Stratégie · Données · IA · Infrastructure souveraine · Humain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828800" y="45720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Le premier groupe capable d'accompagner une organisation du diagnostic stratégique au déploiement en production — et de laisser le client propriétaire et autonome.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3657600" y="56692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Confidentiel — Avril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640080" y="36576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Acte 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640080" y="62172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LE PROBLÈME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640080" y="94176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Trois options sur le marché. Toutes insatisfaisantes.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640080" y="153612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Les organisations veulent se transformer. Le marché ne leur offre que des fragments.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5"/>
          <p:cNvSpPr/>
          <p:nvPr/>
        </p:nvSpPr>
        <p:spPr>
          <a:xfrm>
            <a:off x="640080" y="2130480"/>
            <a:ext cx="3515040" cy="137124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777240" y="2267640"/>
            <a:ext cx="3240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Les ESN et intégrateurs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Temps-homme, POC sans production. Client dépendant. Données dans le cloud. Personne ne s'occupe des équipes.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7"/>
          <p:cNvSpPr/>
          <p:nvPr/>
        </p:nvSpPr>
        <p:spPr>
          <a:xfrm>
            <a:off x="4338360" y="2130480"/>
            <a:ext cx="3515040" cy="137124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4475520" y="2267640"/>
            <a:ext cx="3240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Les éditeurs SaaS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Lock-in maximal, données hors de contrôle, personnalisation limitée. Le client loue ce qu'il ne comprend pas.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9"/>
          <p:cNvSpPr/>
          <p:nvPr/>
        </p:nvSpPr>
        <p:spPr>
          <a:xfrm>
            <a:off x="8036280" y="2130480"/>
            <a:ext cx="3515040" cy="137124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8173440" y="2267640"/>
            <a:ext cx="3240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Les cabinets de conseil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Ils livrent des slides et partent. Pas de déploiement, pas d'infra, pas de suivi.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1"/>
          <p:cNvSpPr/>
          <p:nvPr/>
        </p:nvSpPr>
        <p:spPr>
          <a:xfrm>
            <a:off x="640080" y="3684960"/>
            <a:ext cx="3515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80%+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des projets IA échouent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400"/>
              </a:spcBef>
            </a:pPr>
            <a:r>
              <a:rPr lang="en-US" sz="8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RAND Corporation, 2024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2"/>
          <p:cNvSpPr/>
          <p:nvPr/>
        </p:nvSpPr>
        <p:spPr>
          <a:xfrm>
            <a:off x="4338360" y="3684960"/>
            <a:ext cx="3515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85%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des modèles IA n'atteignent pas la production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400"/>
              </a:spcBef>
            </a:pPr>
            <a:r>
              <a:rPr lang="en-US" sz="8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Gartner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3"/>
          <p:cNvSpPr/>
          <p:nvPr/>
        </p:nvSpPr>
        <p:spPr>
          <a:xfrm>
            <a:off x="8036280" y="3684960"/>
            <a:ext cx="3515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8%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des grandes entreprises ont déployé l'IA à l'échelle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400"/>
              </a:spcBef>
            </a:pPr>
            <a:r>
              <a:rPr lang="en-US" sz="8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McKinsey, 2025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640080" y="36576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Acte 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640080" y="62172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NOTRE RÉPONSE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640080" y="94176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Un seul interlocuteur. La transformation complète.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640080" y="153612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Du diagnostic stratégique au déploiement en production, en passant par la structuration des données et l'accompagnement des équipes.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5"/>
          <p:cNvSpPr/>
          <p:nvPr/>
        </p:nvSpPr>
        <p:spPr>
          <a:xfrm>
            <a:off x="1097280" y="2130480"/>
            <a:ext cx="2285640" cy="63972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1097280" y="21762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Découverte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Modèle cible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3474720" y="226764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→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8"/>
          <p:cNvSpPr/>
          <p:nvPr/>
        </p:nvSpPr>
        <p:spPr>
          <a:xfrm>
            <a:off x="4023360" y="2130480"/>
            <a:ext cx="2285640" cy="63972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4023360" y="21762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Implémentation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Données &amp; outils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6400800" y="226764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→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11"/>
          <p:cNvSpPr/>
          <p:nvPr/>
        </p:nvSpPr>
        <p:spPr>
          <a:xfrm>
            <a:off x="6949440" y="2130480"/>
            <a:ext cx="2285640" cy="63972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2"/>
          <p:cNvSpPr/>
          <p:nvPr/>
        </p:nvSpPr>
        <p:spPr>
          <a:xfrm>
            <a:off x="6949440" y="217620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Impact humain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Formation, reskilling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13"/>
          <p:cNvSpPr/>
          <p:nvPr/>
        </p:nvSpPr>
        <p:spPr>
          <a:xfrm>
            <a:off x="640080" y="3044880"/>
            <a:ext cx="5364000" cy="86832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4"/>
          <p:cNvSpPr/>
          <p:nvPr/>
        </p:nvSpPr>
        <p:spPr>
          <a:xfrm>
            <a:off x="777240" y="3182040"/>
            <a:ext cx="5089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Souveraine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Les données restent chez le client. Pas de dépendance cloud. EU AI Act, NIS2.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5"/>
          <p:cNvSpPr/>
          <p:nvPr/>
        </p:nvSpPr>
        <p:spPr>
          <a:xfrm>
            <a:off x="6187320" y="3044880"/>
            <a:ext cx="5364000" cy="86832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6"/>
          <p:cNvSpPr/>
          <p:nvPr/>
        </p:nvSpPr>
        <p:spPr>
          <a:xfrm>
            <a:off x="6324480" y="3182040"/>
            <a:ext cx="5089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Émancipatrice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Le client est propriétaire de tout — données, modèles, apps, code.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17"/>
          <p:cNvSpPr/>
          <p:nvPr/>
        </p:nvSpPr>
        <p:spPr>
          <a:xfrm>
            <a:off x="640080" y="4050720"/>
            <a:ext cx="5364000" cy="86832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18"/>
          <p:cNvSpPr/>
          <p:nvPr/>
        </p:nvSpPr>
        <p:spPr>
          <a:xfrm>
            <a:off x="777240" y="4187880"/>
            <a:ext cx="5089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Scientifiquement rigoureuse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Nos propres modèles IA, open source, évalués par les pairs. 10 ans de R&amp;D.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19"/>
          <p:cNvSpPr/>
          <p:nvPr/>
        </p:nvSpPr>
        <p:spPr>
          <a:xfrm>
            <a:off x="6187320" y="4050720"/>
            <a:ext cx="5364000" cy="86832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0"/>
          <p:cNvSpPr/>
          <p:nvPr/>
        </p:nvSpPr>
        <p:spPr>
          <a:xfrm>
            <a:off x="6324480" y="4187880"/>
            <a:ext cx="5089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Humaine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Chaque déploiement inclut un plan humain. Formation, reskilling, coaching.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640080" y="36576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Acte II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640080" y="62172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PHASE 1 — DISCOVERY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640080" y="94176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Construire la tour de contrôle de la transformation.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640080" y="153612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L'engagement commence au niveau du comité exécutif. Le plan qu'on construit est directement outillable par la plateforme du groupe.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5"/>
          <p:cNvSpPr/>
          <p:nvPr/>
        </p:nvSpPr>
        <p:spPr>
          <a:xfrm>
            <a:off x="640080" y="2130480"/>
            <a:ext cx="5318280" cy="320004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777240" y="2221920"/>
            <a:ext cx="50439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Ce que nous faisons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• Acculturation des dirigeants — lecture stratégique IA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• Cartographie des opportunités — cas d'usage, impact quantifié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• Feuille de route budgétée — plan priorisé, business cases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• Fondations de l'ontologie — premier modèle de données structuré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7"/>
          <p:cNvSpPr/>
          <p:nvPr/>
        </p:nvSpPr>
        <p:spPr>
          <a:xfrm>
            <a:off x="6233040" y="2130480"/>
            <a:ext cx="5318280" cy="320004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 w="25400">
            <a:solidFill>
              <a:srgbClr val="7A68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6370200" y="2221920"/>
            <a:ext cx="50439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Ce qui rend cette phase différente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Pas de « passation » à un intégrateur tiers — les mêmes personnes qui diagnostiquent accompagnent le déploiement.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Briques activées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Conseil stratégique Data &amp; IA · Ontologie &amp; données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Revenu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One-shot · 100–300K par programme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640080" y="36576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Acte II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640080" y="62172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PHASE 2 — BUILD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640080" y="94176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Mettre en place le plan de création de valeur. Outiller l'organisation.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640080" y="153612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Le conseil et le build ne sont pas séquentiels — ils sont intégrés. Résultats tangibles en semaines.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5"/>
          <p:cNvSpPr/>
          <p:nvPr/>
        </p:nvSpPr>
        <p:spPr>
          <a:xfrm>
            <a:off x="640080" y="2130480"/>
            <a:ext cx="2590200" cy="182844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777240" y="2267640"/>
            <a:ext cx="23158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Infrastructure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Co-construction avec le DSI. Plateforme Hypsis on-prem. Pipelines de données. Ontologie structurée.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7"/>
          <p:cNvSpPr/>
          <p:nvPr/>
        </p:nvSpPr>
        <p:spPr>
          <a:xfrm>
            <a:off x="3413520" y="2130480"/>
            <a:ext cx="2590200" cy="182844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8"/>
          <p:cNvSpPr/>
          <p:nvPr/>
        </p:nvSpPr>
        <p:spPr>
          <a:xfrm>
            <a:off x="3550680" y="2267640"/>
            <a:ext cx="23158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Applications métier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Chaque cas d'usage = outil en production. Pas des POC, des outils au quotidien.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9"/>
          <p:cNvSpPr/>
          <p:nvPr/>
        </p:nvSpPr>
        <p:spPr>
          <a:xfrm>
            <a:off x="6187320" y="2130480"/>
            <a:ext cx="2590200" cy="182844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6324480" y="2267640"/>
            <a:ext cx="23158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Acculturation DSI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On construit avec lui, on transfère la compétence. Il devient le gardien de l'écosystème IA.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1"/>
          <p:cNvSpPr/>
          <p:nvPr/>
        </p:nvSpPr>
        <p:spPr>
          <a:xfrm>
            <a:off x="8960760" y="2130480"/>
            <a:ext cx="2590200" cy="182844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 w="25400">
            <a:solidFill>
              <a:srgbClr val="7A68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2"/>
          <p:cNvSpPr/>
          <p:nvPr/>
        </p:nvSpPr>
        <p:spPr>
          <a:xfrm>
            <a:off x="9097920" y="2267640"/>
            <a:ext cx="23158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Formation &amp; reskilling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Plan humain dès le premier jour. Formation, reconversion, coaching, conduite du changement.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640080" y="423360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Toutes les briques activées. Conseil · Ontologie · Infrastructure · IA · Humain. Revenu : one-shot · 100–500K.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640080" y="36576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Acte II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640080" y="62172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PHASE 3 — RUN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640080" y="94176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Le client est autonome. Le produit reste chez lui.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640080" y="153612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Le client peut partir avec tout ce qui a été construit. C'est précisément parce qu'il peut partir qu'il choisit de rester.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5"/>
          <p:cNvSpPr/>
          <p:nvPr/>
        </p:nvSpPr>
        <p:spPr>
          <a:xfrm>
            <a:off x="640080" y="2130480"/>
            <a:ext cx="3515040" cy="164556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777240" y="2267640"/>
            <a:ext cx="3240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Plateforme en place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Hypsis reste déployée chez le client. Les équipes internes construisent de nouvelles apps — sans dépendre de nous.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7"/>
          <p:cNvSpPr/>
          <p:nvPr/>
        </p:nvSpPr>
        <p:spPr>
          <a:xfrm>
            <a:off x="4338360" y="2130480"/>
            <a:ext cx="3515040" cy="164556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4475520" y="2267640"/>
            <a:ext cx="3240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Intelligence pérenne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Modèles IA, algorithmes, briques documentaires embarqués. Mises à jour = nouvelles capacités sans réintégration.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9"/>
          <p:cNvSpPr/>
          <p:nvPr/>
        </p:nvSpPr>
        <p:spPr>
          <a:xfrm>
            <a:off x="8036280" y="2130480"/>
            <a:ext cx="3515040" cy="164556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 w="254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8173440" y="2267640"/>
            <a:ext cx="3240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Propriété totale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Données, modèles, applications, code — tout appartient au client. Rien piégé dans un cloud.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640080" y="405072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Revenu récurrent : plateforme Hypsis (hébergement, support, mises à jour) + licences modèles IA. 3–15K/mois par client.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640080" y="36576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Acte III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640080" y="62172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LE GROUPE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640080" y="94176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Deux verticales. Cinq briques.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640080" y="153612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Le groupe s'organise en verticales sectorielles portées par des experts métier, rendues possibles par cinq capacités transverses.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5"/>
          <p:cNvSpPr/>
          <p:nvPr/>
        </p:nvSpPr>
        <p:spPr>
          <a:xfrm>
            <a:off x="640080" y="2130480"/>
            <a:ext cx="5318280" cy="82260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 w="25400">
            <a:solidFill>
              <a:srgbClr val="7A68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6"/>
          <p:cNvSpPr/>
          <p:nvPr/>
        </p:nvSpPr>
        <p:spPr>
          <a:xfrm>
            <a:off x="777240" y="2267640"/>
            <a:ext cx="5043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Transformation ops industrielle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Aéro, défense, industrie. Partenaire expert du secteur, intégré au groupe.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7"/>
          <p:cNvSpPr/>
          <p:nvPr/>
        </p:nvSpPr>
        <p:spPr>
          <a:xfrm>
            <a:off x="6233040" y="2130480"/>
            <a:ext cx="5318280" cy="82260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 w="25400">
            <a:solidFill>
              <a:srgbClr val="7A68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8"/>
          <p:cNvSpPr/>
          <p:nvPr/>
        </p:nvSpPr>
        <p:spPr>
          <a:xfrm>
            <a:off x="6370200" y="2267640"/>
            <a:ext cx="5043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Transformation ops tertiaire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Services, finance, retail, luxe. Unité dédiée, constituée par build-up.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9"/>
          <p:cNvSpPr/>
          <p:nvPr/>
        </p:nvSpPr>
        <p:spPr>
          <a:xfrm>
            <a:off x="640080" y="3136320"/>
            <a:ext cx="2090520" cy="201132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731520" y="3209400"/>
            <a:ext cx="190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Stratégie Data &amp; IA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COMEX, Master Plan, CDO Office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Discovery + Build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11"/>
          <p:cNvSpPr/>
          <p:nvPr/>
        </p:nvSpPr>
        <p:spPr>
          <a:xfrm>
            <a:off x="2845080" y="3136320"/>
            <a:ext cx="2090520" cy="201132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2"/>
          <p:cNvSpPr/>
          <p:nvPr/>
        </p:nvSpPr>
        <p:spPr>
          <a:xfrm>
            <a:off x="2936520" y="3209400"/>
            <a:ext cx="190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Ontologie &amp; données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Cartographie, ingénierie des données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8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AI&amp;D · 30 consultants · 6M CA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Discovery + Build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13"/>
          <p:cNvSpPr/>
          <p:nvPr/>
        </p:nvSpPr>
        <p:spPr>
          <a:xfrm>
            <a:off x="5050440" y="3136320"/>
            <a:ext cx="2090520" cy="201132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14"/>
          <p:cNvSpPr/>
          <p:nvPr/>
        </p:nvSpPr>
        <p:spPr>
          <a:xfrm>
            <a:off x="5141880" y="3209400"/>
            <a:ext cx="190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Plateforme souveraine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Création, déploiement, supervision d'apps IA on-prem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8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Hypsis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 + Run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15"/>
          <p:cNvSpPr/>
          <p:nvPr/>
        </p:nvSpPr>
        <p:spPr>
          <a:xfrm>
            <a:off x="7255440" y="3136320"/>
            <a:ext cx="2090520" cy="201132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6"/>
          <p:cNvSpPr/>
          <p:nvPr/>
        </p:nvSpPr>
        <p:spPr>
          <a:xfrm>
            <a:off x="7346880" y="3209400"/>
            <a:ext cx="190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Excellence scientifique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Modèles IA open source, évalués par les pairs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8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Jolibrain · 5 PhDs · 50+ GPUs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 + Run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17"/>
          <p:cNvSpPr/>
          <p:nvPr/>
        </p:nvSpPr>
        <p:spPr>
          <a:xfrm>
            <a:off x="9460800" y="3136320"/>
            <a:ext cx="2090520" cy="201132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8"/>
          <p:cNvSpPr/>
          <p:nvPr/>
        </p:nvSpPr>
        <p:spPr>
          <a:xfrm>
            <a:off x="9552240" y="3209400"/>
            <a:ext cx="190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Transformation humaine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Formation, reskilling, conduite du changement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8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Horizon début 2027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9"/>
          <p:cNvSpPr/>
          <p:nvPr/>
        </p:nvSpPr>
        <p:spPr>
          <a:xfrm>
            <a:off x="640080" y="533088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Les verticales apportent l'expertise métier. Les briques apportent les capacités. C'est l'intégration des deux qui produit la transformation.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"/>
          <p:cNvSpPr/>
          <p:nvPr/>
        </p:nvSpPr>
        <p:spPr>
          <a:xfrm>
            <a:off x="640080" y="36576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Acte III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"/>
          <p:cNvSpPr/>
          <p:nvPr/>
        </p:nvSpPr>
        <p:spPr>
          <a:xfrm>
            <a:off x="640080" y="62172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LE CHAÎNON MANQUANT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640080" y="94176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La brique stratégique qui transforme le groupe.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640080" y="153612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La phase de Discovery est le point d'entrée de toute la chaîne de valeur. C'est elle qui convainc le COMEX et génère le pipeline.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5"/>
          <p:cNvSpPr/>
          <p:nvPr/>
        </p:nvSpPr>
        <p:spPr>
          <a:xfrm>
            <a:off x="640080" y="2130480"/>
            <a:ext cx="5318280" cy="292572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 w="254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6"/>
          <p:cNvSpPr/>
          <p:nvPr/>
        </p:nvSpPr>
        <p:spPr>
          <a:xfrm>
            <a:off x="777240" y="2221920"/>
            <a:ext cx="50439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Le profil idéal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Cabinet français, indépendant, dédié à la stratégie Data &amp; IA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Positionné en amont — DG, CDO, responsables métier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Cycle de vie complet : acculturation → autonomie des BU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Culture de rigueur stratégique (70% advisory / 30% build)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30+ grands comptes, taux de renouvellement élevé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Écosystème propriétaire : université interne, veille tech, capitalisation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7"/>
          <p:cNvSpPr/>
          <p:nvPr/>
        </p:nvSpPr>
        <p:spPr>
          <a:xfrm>
            <a:off x="6233040" y="2130480"/>
            <a:ext cx="5318280" cy="292572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8"/>
          <p:cNvSpPr/>
          <p:nvPr/>
        </p:nvSpPr>
        <p:spPr>
          <a:xfrm>
            <a:off x="6370200" y="2221920"/>
            <a:ext cx="50439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La synergie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i="1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« Demain, le conseil stratégique ne pourra plus se contenter de recommander — il devra déployer. Pour déployer, il faut une plateforme, des modèles, et une infrastructure. »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Ce que le groupe apporte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Modèles IA propriétaires, plateforme souveraine, infrastructure — ce que les cabinets conseil IA sous-traitent aujourd'hui à des ESN.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Ce qu'un tel cabinet apporte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Accès direct aux COMEX, 50+ consultants certifiés, moteur commercial à 80% de récurrence.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/>
          <p:nvPr/>
        </p:nvSpPr>
        <p:spPr>
          <a:xfrm>
            <a:off x="640080" y="36576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Acte IV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"/>
          <p:cNvSpPr/>
          <p:nvPr/>
        </p:nvSpPr>
        <p:spPr>
          <a:xfrm>
            <a:off x="640080" y="62172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STRUCTURE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640080" y="94176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Un groupe conçu pour le build-up.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640080" y="153612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Filiales autonomes, P&amp;L séparés, gouvernance compatible fonds. Chaque fondateur qui rejoint garde les rênes de ce qu'il a construit.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640080" y="2130480"/>
            <a:ext cx="2590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17M€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CA consolidé année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6"/>
          <p:cNvSpPr/>
          <p:nvPr/>
        </p:nvSpPr>
        <p:spPr>
          <a:xfrm>
            <a:off x="3413520" y="2130480"/>
            <a:ext cx="2590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95+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effectifs totaux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6187320" y="2130480"/>
            <a:ext cx="2590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5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briques de capacité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8"/>
          <p:cNvSpPr/>
          <p:nvPr/>
        </p:nvSpPr>
        <p:spPr>
          <a:xfrm>
            <a:off x="8960760" y="2130480"/>
            <a:ext cx="2590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verticales sectorielles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9"/>
          <p:cNvSpPr/>
          <p:nvPr/>
        </p:nvSpPr>
        <p:spPr>
          <a:xfrm>
            <a:off x="640080" y="3136320"/>
            <a:ext cx="3515040" cy="182844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10"/>
          <p:cNvSpPr/>
          <p:nvPr/>
        </p:nvSpPr>
        <p:spPr>
          <a:xfrm>
            <a:off x="777240" y="3273480"/>
            <a:ext cx="32407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Gouvernance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CEO groupe : Yvan Chabanne, ex-DG Scalian (~5 000 pers.)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Chaque BU a son propre CEO et son P&amp;L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CEOs entrants obtiennent un siège au conseil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11"/>
          <p:cNvSpPr/>
          <p:nvPr/>
        </p:nvSpPr>
        <p:spPr>
          <a:xfrm>
            <a:off x="4338360" y="3136320"/>
            <a:ext cx="3515040" cy="182844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12"/>
          <p:cNvSpPr/>
          <p:nvPr/>
        </p:nvSpPr>
        <p:spPr>
          <a:xfrm>
            <a:off x="4475520" y="3273480"/>
            <a:ext cx="32407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Autonomie des BU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Le groupe ajoute les synergies commerciales et les services partagés. Il ne micro-manage pas. Un fondateur qui rejoint garde son CEO, son équipe, ses clients.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13"/>
          <p:cNvSpPr/>
          <p:nvPr/>
        </p:nvSpPr>
        <p:spPr>
          <a:xfrm>
            <a:off x="8036280" y="3136320"/>
            <a:ext cx="3515040" cy="1828440"/>
          </a:xfrm>
          <a:prstGeom prst="roundRect">
            <a:avLst>
              <a:gd name="adj" fmla="val 16667"/>
            </a:avLst>
          </a:prstGeom>
          <a:solidFill>
            <a:srgbClr val="F0ECE3"/>
          </a:solidFill>
          <a:ln w="25400">
            <a:solidFill>
              <a:srgbClr val="7A68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14"/>
          <p:cNvSpPr/>
          <p:nvPr/>
        </p:nvSpPr>
        <p:spPr>
          <a:xfrm>
            <a:off x="8173440" y="3273480"/>
            <a:ext cx="32407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BSPCE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Loi de Finances 2026 : holding émet des BSPCE aux employés de toute filiale détenue à 75%+. Equity dans la holding, avantage fiscal, vesting 4 ans.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"/>
          <p:cNvSpPr/>
          <p:nvPr/>
        </p:nvSpPr>
        <p:spPr>
          <a:xfrm>
            <a:off x="640080" y="36576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Acte IV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640080" y="62172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MODÈLE ÉCONOMIQUE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640080" y="94176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Le conseil génère le cash. La plateforme construit l'actif.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4"/>
          <p:cNvSpPr/>
          <p:nvPr/>
        </p:nvSpPr>
        <p:spPr>
          <a:xfrm>
            <a:off x="640080" y="153612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Trois flux de revenus. La part récurrente détermine le multiple de valorisation.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5"/>
          <p:cNvSpPr/>
          <p:nvPr/>
        </p:nvSpPr>
        <p:spPr>
          <a:xfrm>
            <a:off x="640080" y="2130480"/>
            <a:ext cx="3515040" cy="146268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6"/>
          <p:cNvSpPr/>
          <p:nvPr/>
        </p:nvSpPr>
        <p:spPr>
          <a:xfrm>
            <a:off x="777240" y="2267640"/>
            <a:ext cx="3240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① Conseil &amp; transformation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One-shot. Diagnostic, Master Plan, déploiement, formation. 100–300K par programme. Marge ~30%.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7"/>
          <p:cNvSpPr/>
          <p:nvPr/>
        </p:nvSpPr>
        <p:spPr>
          <a:xfrm>
            <a:off x="4338360" y="2130480"/>
            <a:ext cx="3515040" cy="146268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8"/>
          <p:cNvSpPr/>
          <p:nvPr/>
        </p:nvSpPr>
        <p:spPr>
          <a:xfrm>
            <a:off x="4475520" y="2267640"/>
            <a:ext cx="3240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② Plateforme &amp; infrastructure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Récurrent. Hébergement, support, mises à jour. 3–15K/mois. Marge 70–80%.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9"/>
          <p:cNvSpPr/>
          <p:nvPr/>
        </p:nvSpPr>
        <p:spPr>
          <a:xfrm>
            <a:off x="8036280" y="2130480"/>
            <a:ext cx="3515040" cy="146268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8173440" y="2267640"/>
            <a:ext cx="3240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③ Intelligence embarquée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Récurrent. Modèles IA + algorithmes partenaires déployés sur la plateforme. Royalties aux créateurs.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11"/>
          <p:cNvSpPr/>
          <p:nvPr/>
        </p:nvSpPr>
        <p:spPr>
          <a:xfrm>
            <a:off x="640080" y="3867840"/>
            <a:ext cx="5318280" cy="164556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12"/>
          <p:cNvSpPr/>
          <p:nvPr/>
        </p:nvSpPr>
        <p:spPr>
          <a:xfrm>
            <a:off x="777240" y="4005000"/>
            <a:ext cx="5043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Pourquoi le client reste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La plateforme Hypsis est le socle de toutes les applications. La quitter = reconstruire tout. Le client reste pour les mises à jour, les modèles, le support — la plateforme est le canal de livraison de toute nouvelle intelligence.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13"/>
          <p:cNvSpPr/>
          <p:nvPr/>
        </p:nvSpPr>
        <p:spPr>
          <a:xfrm>
            <a:off x="6233040" y="3867840"/>
            <a:ext cx="5318280" cy="164556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 w="254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14"/>
          <p:cNvSpPr/>
          <p:nvPr/>
        </p:nvSpPr>
        <p:spPr>
          <a:xfrm>
            <a:off x="6370200" y="3959280"/>
            <a:ext cx="50439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Trajectoire du mix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Aujourd'hui : ~95% one-shot (consulting)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Objectif année 3 : ~73% services / 27% récurrent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Objectif année 5 : ~63% services / 37% récurrent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0" i="1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Le récurrent est le multiplicateur de valorisation du groupe.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/>
          <p:nvPr/>
        </p:nvSpPr>
        <p:spPr>
          <a:xfrm>
            <a:off x="640080" y="36576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Acte IV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640080" y="62172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TRAJECTOIRE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3"/>
          <p:cNvSpPr/>
          <p:nvPr/>
        </p:nvSpPr>
        <p:spPr>
          <a:xfrm>
            <a:off x="640080" y="94176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17M → 80M en 5 ans. 15% de croissance organique.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"/>
          <p:cNvSpPr/>
          <p:nvPr/>
        </p:nvSpPr>
        <p:spPr>
          <a:xfrm>
            <a:off x="640080" y="153612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Le saut année 3 vient d'une acquisition mid-market. La marge remonte grâce à l'ARR plateforme.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0" name="Table 5"/>
          <p:cNvGraphicFramePr/>
          <p:nvPr/>
        </p:nvGraphicFramePr>
        <p:xfrm>
          <a:off x="640080" y="2130480"/>
          <a:ext cx="10911240" cy="2285640"/>
        </p:xfrm>
        <a:graphic>
          <a:graphicData uri="http://schemas.openxmlformats.org/drawingml/2006/table">
            <a:tbl>
              <a:tblPr/>
              <a:tblGrid>
                <a:gridCol w="2181960"/>
                <a:gridCol w="2181960"/>
                <a:gridCol w="2181960"/>
                <a:gridCol w="2181960"/>
                <a:gridCol w="2181960"/>
              </a:tblGrid>
              <a:tr h="380880"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7A7A8C"/>
                          </a:solidFill>
                          <a:effectLst/>
                          <a:uFillTx/>
                          <a:latin typeface="Calibri"/>
                        </a:rPr>
                        <a:t>Constitution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7A7A8C"/>
                          </a:solidFill>
                          <a:effectLst/>
                          <a:uFillTx/>
                          <a:latin typeface="Calibri"/>
                        </a:rPr>
                        <a:t>Année 1–2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7A7A8C"/>
                          </a:solidFill>
                          <a:effectLst/>
                          <a:uFillTx/>
                          <a:latin typeface="Calibri"/>
                        </a:rPr>
                        <a:t>Année 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7A7A8C"/>
                          </a:solidFill>
                          <a:effectLst/>
                          <a:uFillTx/>
                          <a:latin typeface="Calibri"/>
                        </a:rPr>
                        <a:t>Année 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CE3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CA groupe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17M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22M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55M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80M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7A6840"/>
                          </a:solidFill>
                          <a:effectLst/>
                          <a:uFillTx/>
                          <a:latin typeface="Calibri"/>
                        </a:rPr>
                        <a:t>dont ARR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0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7A6840"/>
                          </a:solidFill>
                          <a:effectLst/>
                          <a:uFillTx/>
                          <a:latin typeface="Calibri"/>
                        </a:rPr>
                        <a:t>~0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0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7A6840"/>
                          </a:solidFill>
                          <a:effectLst/>
                          <a:uFillTx/>
                          <a:latin typeface="Calibri"/>
                        </a:rPr>
                        <a:t>2M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0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7A6840"/>
                          </a:solidFill>
                          <a:effectLst/>
                          <a:uFillTx/>
                          <a:latin typeface="Calibri"/>
                        </a:rPr>
                        <a:t>7M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0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7A6840"/>
                          </a:solidFill>
                          <a:effectLst/>
                          <a:uFillTx/>
                          <a:latin typeface="Calibri"/>
                        </a:rPr>
                        <a:t>20M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0CC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EBITDA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2,5M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3,5M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7M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16M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Marge EBITDA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15%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16%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13%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20%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Événement clé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4 acquisitions fondatrices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Entrée fonds PE + brique RH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Acquisition mid-market (~30M CA)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Croissance organique + ARR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1" name="TextBox 6"/>
          <p:cNvSpPr/>
          <p:nvPr/>
        </p:nvSpPr>
        <p:spPr>
          <a:xfrm>
            <a:off x="640080" y="459936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La marge EBITDA baisse temporairement à l'année 3 (coûts d'intégration) puis converge vers 20% grâce à la montée en charge de l'ARR — la ligne qui fait la valorisation.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640080" y="36576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Acte V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640080" y="62172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L'ÉQUIPE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640080" y="94176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Une équipe qui a fait le chemin — pas une qui le théorise.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640080" y="153612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Construction de groupe · Transformation industrielle · R&amp;D IA en production.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5"/>
          <p:cNvSpPr/>
          <p:nvPr/>
        </p:nvSpPr>
        <p:spPr>
          <a:xfrm>
            <a:off x="640080" y="2130480"/>
            <a:ext cx="2590200" cy="201132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 w="254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6"/>
          <p:cNvSpPr/>
          <p:nvPr/>
        </p:nvSpPr>
        <p:spPr>
          <a:xfrm>
            <a:off x="749880" y="2221920"/>
            <a:ext cx="23709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Yvan Chabanne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CEO du groupe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Ex-DG Scalian (ESN ~5 000 personnes). Construction et pilotage d'un groupe multi-filiales dans le conseil tech et l'ingénierie.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7"/>
          <p:cNvSpPr/>
          <p:nvPr/>
        </p:nvSpPr>
        <p:spPr>
          <a:xfrm>
            <a:off x="3413520" y="2130480"/>
            <a:ext cx="2590200" cy="201132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 w="254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8"/>
          <p:cNvSpPr/>
          <p:nvPr/>
        </p:nvSpPr>
        <p:spPr>
          <a:xfrm>
            <a:off x="3523320" y="2221920"/>
            <a:ext cx="23709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William Le Ferrand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CTO groupe · CEO Hypsis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Ex-CTO Sogeclair (ETI aéronautique, 1 300 pers.). Transformation digitale d'une ETI industrielle cotée. Créateur de la plateforme Hypsis.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9"/>
          <p:cNvSpPr/>
          <p:nvPr/>
        </p:nvSpPr>
        <p:spPr>
          <a:xfrm>
            <a:off x="6187320" y="2130480"/>
            <a:ext cx="2590200" cy="201132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 w="254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0"/>
          <p:cNvSpPr/>
          <p:nvPr/>
        </p:nvSpPr>
        <p:spPr>
          <a:xfrm>
            <a:off x="6297120" y="2221920"/>
            <a:ext cx="23709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Emmanuel Benazera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CSO groupe · CEO Jolibrain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10 ans de R&amp;D IA en production. 5 PhDs, publications NeurIPS / ICML / AAAI. Clients : Airbus, Dassault, SNCF, CNES. 50+ GPUs.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11"/>
          <p:cNvSpPr/>
          <p:nvPr/>
        </p:nvSpPr>
        <p:spPr>
          <a:xfrm>
            <a:off x="8960760" y="2130480"/>
            <a:ext cx="2590200" cy="201132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 w="254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12"/>
          <p:cNvSpPr/>
          <p:nvPr/>
        </p:nvSpPr>
        <p:spPr>
          <a:xfrm>
            <a:off x="9070560" y="2221920"/>
            <a:ext cx="23709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Florian Lepage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CRO groupe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Ex-COO d'un éditeur de logiciel RH. Expérience du scale-up commercial et de la structuration d'une offre récurrente.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13"/>
          <p:cNvSpPr/>
          <p:nvPr/>
        </p:nvSpPr>
        <p:spPr>
          <a:xfrm>
            <a:off x="640080" y="4416480"/>
            <a:ext cx="2590200" cy="73116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 w="12700">
            <a:solidFill>
              <a:srgbClr val="7A7A8C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4"/>
          <p:cNvSpPr/>
          <p:nvPr/>
        </p:nvSpPr>
        <p:spPr>
          <a:xfrm>
            <a:off x="640080" y="4553640"/>
            <a:ext cx="259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CEO conseil stratégique Data &amp; IA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15"/>
          <p:cNvSpPr/>
          <p:nvPr/>
        </p:nvSpPr>
        <p:spPr>
          <a:xfrm>
            <a:off x="3413520" y="4416480"/>
            <a:ext cx="2590200" cy="73116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 w="12700">
            <a:solidFill>
              <a:srgbClr val="7A7A8C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6"/>
          <p:cNvSpPr/>
          <p:nvPr/>
        </p:nvSpPr>
        <p:spPr>
          <a:xfrm>
            <a:off x="3413520" y="4553640"/>
            <a:ext cx="259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CEO verticale industrielle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17"/>
          <p:cNvSpPr/>
          <p:nvPr/>
        </p:nvSpPr>
        <p:spPr>
          <a:xfrm>
            <a:off x="6187320" y="4416480"/>
            <a:ext cx="2590200" cy="73116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 w="12700">
            <a:solidFill>
              <a:srgbClr val="7A7A8C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18"/>
          <p:cNvSpPr/>
          <p:nvPr/>
        </p:nvSpPr>
        <p:spPr>
          <a:xfrm>
            <a:off x="6187320" y="4553640"/>
            <a:ext cx="259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CEO transformation humaine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19"/>
          <p:cNvSpPr/>
          <p:nvPr/>
        </p:nvSpPr>
        <p:spPr>
          <a:xfrm>
            <a:off x="8960760" y="4416480"/>
            <a:ext cx="2590200" cy="73116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 w="12700">
            <a:solidFill>
              <a:srgbClr val="7A7A8C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20"/>
          <p:cNvSpPr/>
          <p:nvPr/>
        </p:nvSpPr>
        <p:spPr>
          <a:xfrm>
            <a:off x="8960760" y="4553640"/>
            <a:ext cx="259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…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1"/>
          <p:cNvSpPr/>
          <p:nvPr/>
        </p:nvSpPr>
        <p:spPr>
          <a:xfrm>
            <a:off x="640080" y="533088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L'équipe fondatrice couvre la construction de groupe, la transformation industrielle, la R&amp;D IA en production et le scale-up commercial. Chaque fondateur qui rejoint le groupe complète le puzzle.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Box 1"/>
          <p:cNvSpPr/>
          <p:nvPr/>
        </p:nvSpPr>
        <p:spPr>
          <a:xfrm>
            <a:off x="640080" y="36576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Acte V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"/>
          <p:cNvSpPr/>
          <p:nvPr/>
        </p:nvSpPr>
        <p:spPr>
          <a:xfrm>
            <a:off x="640080" y="62172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7A6840"/>
                </a:solidFill>
                <a:effectLst/>
                <a:uFillTx/>
                <a:latin typeface="Calibri"/>
              </a:rPr>
              <a:t>POSITIONNEMENT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3"/>
          <p:cNvSpPr/>
          <p:nvPr/>
        </p:nvSpPr>
        <p:spPr>
          <a:xfrm>
            <a:off x="640080" y="94176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Ce que chaque acteur fait. Ce qui lui manque.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4"/>
          <p:cNvSpPr/>
          <p:nvPr/>
        </p:nvSpPr>
        <p:spPr>
          <a:xfrm>
            <a:off x="640080" y="153612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3D3D54"/>
                </a:solidFill>
                <a:effectLst/>
                <a:uFillTx/>
                <a:latin typeface="Calibri"/>
              </a:rPr>
              <a:t>Nous assemblons les meilleures briques existantes plutôt que de tout construire from scratch.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7" name="Table 5"/>
          <p:cNvGraphicFramePr/>
          <p:nvPr/>
        </p:nvGraphicFramePr>
        <p:xfrm>
          <a:off x="640080" y="2130480"/>
          <a:ext cx="10911240" cy="2742840"/>
        </p:xfrm>
        <a:graphic>
          <a:graphicData uri="http://schemas.openxmlformats.org/drawingml/2006/table">
            <a:tbl>
              <a:tblPr/>
              <a:tblGrid>
                <a:gridCol w="3637080"/>
                <a:gridCol w="3637080"/>
                <a:gridCol w="3637080"/>
              </a:tblGrid>
              <a:tr h="391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7A7A8C"/>
                          </a:solidFill>
                          <a:effectLst/>
                          <a:uFillTx/>
                          <a:latin typeface="Calibri"/>
                        </a:rPr>
                        <a:t>Acteur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7A7A8C"/>
                          </a:solidFill>
                          <a:effectLst/>
                          <a:uFillTx/>
                          <a:latin typeface="Calibri"/>
                        </a:rPr>
                        <a:t>Ce qu'il fait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CE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7A7A8C"/>
                          </a:solidFill>
                          <a:effectLst/>
                          <a:uFillTx/>
                          <a:latin typeface="Calibri"/>
                        </a:rPr>
                        <a:t>Ce qui lui manque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CE3"/>
                    </a:solidFill>
                  </a:tcPr>
                </a:tc>
              </a:tr>
              <a:tr h="391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Accenture / Capgemini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Transformation IA grands groupes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Trop cher pour ETI, pas souverain, lock-in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1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ESN mid-market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Intégration tech, data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Pas de vision stratégique, pas de modèles IA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1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Cabinets conseil (McKinsey, BCG)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Stratégie, diagnostic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Pas de déploiement, pas d'infra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1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Éditeurs IA (Dataiku, Palantir)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Plateforme data/IA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Lock-in, cloud, pas d'accompagnement humain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1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Cabinets conseil Data &amp; IA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Stratégie IA, Master Plan, CDO Office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Pas de plateforme, pas de modèles IA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16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Le groupe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0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Stratégie + Data + IA + Infra souveraine + Humain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0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</a:rPr>
                        <a:t>Intégré, souverain, pas de lock-in, propriété client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0C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1"/>
          <p:cNvSpPr/>
          <p:nvPr/>
        </p:nvSpPr>
        <p:spPr>
          <a:xfrm>
            <a:off x="640080" y="36576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Acte VI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640080" y="62172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POURQUOI NOUS REJOINDRE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640080" y="94176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Vous gardez votre entreprise. Vous accédez à un groupe.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4"/>
          <p:cNvSpPr/>
          <p:nvPr/>
        </p:nvSpPr>
        <p:spPr>
          <a:xfrm>
            <a:off x="640080" y="153612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Ce que le groupe change pour un fondateur qui nous rejoint.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5"/>
          <p:cNvSpPr/>
          <p:nvPr/>
        </p:nvSpPr>
        <p:spPr>
          <a:xfrm>
            <a:off x="640080" y="2130480"/>
            <a:ext cx="3515040" cy="146268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6"/>
          <p:cNvSpPr/>
          <p:nvPr/>
        </p:nvSpPr>
        <p:spPr>
          <a:xfrm>
            <a:off x="777240" y="2267640"/>
            <a:ext cx="3240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Votre identité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Votre CEO, votre P&amp;L, votre équipe, vos clients. Le groupe ne réécrit pas ce qui fonctionne.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7"/>
          <p:cNvSpPr/>
          <p:nvPr/>
        </p:nvSpPr>
        <p:spPr>
          <a:xfrm>
            <a:off x="4338360" y="2130480"/>
            <a:ext cx="3515040" cy="146268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8"/>
          <p:cNvSpPr/>
          <p:nvPr/>
        </p:nvSpPr>
        <p:spPr>
          <a:xfrm>
            <a:off x="4475520" y="2267640"/>
            <a:ext cx="3240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Votre front commercial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Programmes de transformation à 100–500K vendus au niveau COMEX. Vos compétences intégrées dans une offre plus large, vendue plus cher.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9"/>
          <p:cNvSpPr/>
          <p:nvPr/>
        </p:nvSpPr>
        <p:spPr>
          <a:xfrm>
            <a:off x="8036280" y="2130480"/>
            <a:ext cx="3515040" cy="146268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 w="254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0"/>
          <p:cNvSpPr/>
          <p:nvPr/>
        </p:nvSpPr>
        <p:spPr>
          <a:xfrm>
            <a:off x="8173440" y="2267640"/>
            <a:ext cx="3240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Du conseil à l'impact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Vous ne sous-traitez plus à des ESN. Vous gardez le contrôle de la stratégie ET vous déployez avec la plateforme et l'infra du groupe.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11"/>
          <p:cNvSpPr/>
          <p:nvPr/>
        </p:nvSpPr>
        <p:spPr>
          <a:xfrm>
            <a:off x="640080" y="3867840"/>
            <a:ext cx="5318280" cy="118836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12"/>
          <p:cNvSpPr/>
          <p:nvPr/>
        </p:nvSpPr>
        <p:spPr>
          <a:xfrm>
            <a:off x="777240" y="4005000"/>
            <a:ext cx="5043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Participation à la valeur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BSPCE au niveau de la holding. Roll-over en equity. La croissance d'une BU bénéficie à tous. Les intérêts sont alignés.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13"/>
          <p:cNvSpPr/>
          <p:nvPr/>
        </p:nvSpPr>
        <p:spPr>
          <a:xfrm>
            <a:off x="6233040" y="3867840"/>
            <a:ext cx="5318280" cy="118836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14"/>
          <p:cNvSpPr/>
          <p:nvPr/>
        </p:nvSpPr>
        <p:spPr>
          <a:xfrm>
            <a:off x="6370200" y="4005000"/>
            <a:ext cx="5043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Protection, pas dilution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P&amp;L séparés = chaque entité valorisable indépendamment. Le groupe peut se vendre « à l'appartement » ou en bloc. Les deux chemins restent ouverts.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Box 1"/>
          <p:cNvSpPr/>
          <p:nvPr/>
        </p:nvSpPr>
        <p:spPr>
          <a:xfrm>
            <a:off x="640080" y="73152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Acte VI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"/>
          <p:cNvSpPr/>
          <p:nvPr/>
        </p:nvSpPr>
        <p:spPr>
          <a:xfrm>
            <a:off x="640080" y="1005840"/>
            <a:ext cx="1091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PROCHAINE ÉTAPE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"/>
          <p:cNvSpPr/>
          <p:nvPr/>
        </p:nvSpPr>
        <p:spPr>
          <a:xfrm>
            <a:off x="1828800" y="1371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Construisons ensemble.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4"/>
          <p:cNvSpPr/>
          <p:nvPr/>
        </p:nvSpPr>
        <p:spPr>
          <a:xfrm>
            <a:off x="2286000" y="21031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Le groupe se construit maintenant. Les briques techniques existent. L'équipe est en place. La pièce manquante, c'est peut-être vous.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Rounded Rectangle 5"/>
          <p:cNvSpPr/>
          <p:nvPr/>
        </p:nvSpPr>
        <p:spPr>
          <a:xfrm>
            <a:off x="640080" y="2926080"/>
            <a:ext cx="3515040" cy="182844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6"/>
          <p:cNvSpPr/>
          <p:nvPr/>
        </p:nvSpPr>
        <p:spPr>
          <a:xfrm>
            <a:off x="777240" y="3063240"/>
            <a:ext cx="32407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Ce que nous avons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Plateforme souveraine en production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10 ans de R&amp;D IA, modèles déployés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30 consultants data, 6M CA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CEO ex-DG d'un groupe de 5 000 pers.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7"/>
          <p:cNvSpPr/>
          <p:nvPr/>
        </p:nvSpPr>
        <p:spPr>
          <a:xfrm>
            <a:off x="4338360" y="2926080"/>
            <a:ext cx="3515040" cy="182844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8"/>
          <p:cNvSpPr/>
          <p:nvPr/>
        </p:nvSpPr>
        <p:spPr>
          <a:xfrm>
            <a:off x="4475520" y="3063240"/>
            <a:ext cx="32407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Ce que nous cherchons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La brique conseil stratégique Data &amp; IA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Un accès direct aux COMEX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Une méthodologie de transformation éprouvée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Un fondateur qui veut aller plus loin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Rounded Rectangle 9"/>
          <p:cNvSpPr/>
          <p:nvPr/>
        </p:nvSpPr>
        <p:spPr>
          <a:xfrm>
            <a:off x="8036280" y="2926080"/>
            <a:ext cx="3515040" cy="1828440"/>
          </a:xfrm>
          <a:prstGeom prst="roundRect">
            <a:avLst>
              <a:gd name="adj" fmla="val 16667"/>
            </a:avLst>
          </a:prstGeom>
          <a:solidFill>
            <a:srgbClr val="25253E"/>
          </a:solidFill>
          <a:ln w="25400">
            <a:solidFill>
              <a:srgbClr val="C9A84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10"/>
          <p:cNvSpPr/>
          <p:nvPr/>
        </p:nvSpPr>
        <p:spPr>
          <a:xfrm>
            <a:off x="8173440" y="3063240"/>
            <a:ext cx="32407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8F6F1"/>
                </a:solidFill>
                <a:effectLst/>
                <a:uFillTx/>
                <a:latin typeface="Calibri"/>
              </a:rPr>
              <a:t>Prochaine étape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Échange informel entre fondateurs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Démonstration de la plateforme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A09E96"/>
                </a:solidFill>
                <a:effectLst/>
                <a:uFillTx/>
                <a:latin typeface="Calibri"/>
              </a:rPr>
              <a:t>• Exploration des synergies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11"/>
          <p:cNvSpPr/>
          <p:nvPr/>
        </p:nvSpPr>
        <p:spPr>
          <a:xfrm>
            <a:off x="3657600" y="50292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C9A84C"/>
                </a:solidFill>
                <a:effectLst/>
                <a:uFillTx/>
                <a:latin typeface="Calibri"/>
              </a:rPr>
              <a:t>ANTERIQ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2"/>
          <p:cNvSpPr/>
          <p:nvPr/>
        </p:nvSpPr>
        <p:spPr>
          <a:xfrm>
            <a:off x="3657600" y="53949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A8C"/>
                </a:solidFill>
                <a:effectLst/>
                <a:uFillTx/>
                <a:latin typeface="Calibri"/>
              </a:rPr>
              <a:t>Confidentiel — Avril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LibreOffice/26.2.2.2$Linux_X86_64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2026-04-15T17:46:23Z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